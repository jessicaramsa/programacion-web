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4" r:id="rId2"/>
    <p:sldId id="262" r:id="rId3"/>
    <p:sldId id="263" r:id="rId4"/>
    <p:sldId id="256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5" autoAdjust="0"/>
    <p:restoredTop sz="94701" autoAdjust="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Rectángulo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B7D37FFC-9AFF-4017-A5A7-6AA9700987DF}" type="datetimeFigureOut">
              <a:rPr lang="es-ES" smtClean="0"/>
              <a:t>26/09/2019</a:t>
            </a:fld>
            <a:endParaRPr lang="es-ES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s-ES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2B7EFF8-6270-4C35-A372-91743A98FC56}" type="slidenum">
              <a:rPr lang="es-ES" smtClean="0"/>
              <a:t>‹Nº›</a:t>
            </a:fld>
            <a:endParaRPr lang="es-E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37FFC-9AFF-4017-A5A7-6AA9700987DF}" type="datetimeFigureOut">
              <a:rPr lang="es-ES" smtClean="0"/>
              <a:t>26/09/2019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2B7EFF8-6270-4C35-A372-91743A98FC56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7" name="6 Rectángulo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Rectángulo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2" name="1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37FFC-9AFF-4017-A5A7-6AA9700987DF}" type="datetimeFigureOut">
              <a:rPr lang="es-ES" smtClean="0"/>
              <a:t>26/09/2019</a:t>
            </a:fld>
            <a:endParaRPr lang="es-ES"/>
          </a:p>
        </p:txBody>
      </p:sp>
      <p:sp>
        <p:nvSpPr>
          <p:cNvPr id="13" name="12 Marcador de número de diapositiva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42B7EFF8-6270-4C35-A372-91743A98FC56}" type="slidenum">
              <a:rPr lang="es-ES" smtClean="0"/>
              <a:t>‹Nº›</a:t>
            </a:fld>
            <a:endParaRPr lang="es-ES"/>
          </a:p>
        </p:txBody>
      </p:sp>
      <p:sp>
        <p:nvSpPr>
          <p:cNvPr id="14" name="13 Marcador de pie de página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8" name="7 Marcador de fecha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7D37FFC-9AFF-4017-A5A7-6AA9700987DF}" type="datetimeFigureOut">
              <a:rPr lang="es-ES" smtClean="0"/>
              <a:t>26/09/2019</a:t>
            </a:fld>
            <a:endParaRPr lang="es-ES"/>
          </a:p>
        </p:txBody>
      </p:sp>
      <p:sp>
        <p:nvSpPr>
          <p:cNvPr id="10" name="9 Marcador de número de diapositiva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42B7EFF8-6270-4C35-A372-91743A98FC56}" type="slidenum">
              <a:rPr lang="es-ES" smtClean="0"/>
              <a:t>‹Nº›</a:t>
            </a:fld>
            <a:endParaRPr lang="es-ES"/>
          </a:p>
        </p:txBody>
      </p:sp>
      <p:sp>
        <p:nvSpPr>
          <p:cNvPr id="12" name="11 Marcador de pie de página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7D37FFC-9AFF-4017-A5A7-6AA9700987DF}" type="datetimeFigureOut">
              <a:rPr lang="es-ES" smtClean="0"/>
              <a:t>26/09/2019</a:t>
            </a:fld>
            <a:endParaRPr lang="es-ES"/>
          </a:p>
        </p:txBody>
      </p:sp>
      <p:sp>
        <p:nvSpPr>
          <p:cNvPr id="12" name="11 Marcador de número de diapositiva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42B7EFF8-6270-4C35-A372-91743A98FC56}" type="slidenum">
              <a:rPr lang="es-ES" smtClean="0"/>
              <a:t>‹Nº›</a:t>
            </a:fld>
            <a:endParaRPr lang="es-ES"/>
          </a:p>
        </p:txBody>
      </p:sp>
      <p:sp>
        <p:nvSpPr>
          <p:cNvPr id="14" name="13 Marcador de pie de página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s-ES"/>
          </a:p>
        </p:txBody>
      </p:sp>
      <p:sp>
        <p:nvSpPr>
          <p:cNvPr id="16" name="15 Marcador de texto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37FFC-9AFF-4017-A5A7-6AA9700987DF}" type="datetimeFigureOut">
              <a:rPr lang="es-ES" smtClean="0"/>
              <a:t>26/09/2019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2B7EFF8-6270-4C35-A372-91743A98FC56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37FFC-9AFF-4017-A5A7-6AA9700987DF}" type="datetimeFigureOut">
              <a:rPr lang="es-ES" smtClean="0"/>
              <a:t>26/09/2019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2B7EFF8-6270-4C35-A372-91743A98FC56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37FFC-9AFF-4017-A5A7-6AA9700987DF}" type="datetimeFigureOut">
              <a:rPr lang="es-ES" smtClean="0"/>
              <a:t>26/09/2019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2B7EFF8-6270-4C35-A372-91743A98FC56}" type="slidenum">
              <a:rPr lang="es-ES" smtClean="0"/>
              <a:t>‹Nº›</a:t>
            </a:fld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8" name="7 Rectángulo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Rectángulo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1" name="10 Rectángulo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Marcador de fecha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B7D37FFC-9AFF-4017-A5A7-6AA9700987DF}" type="datetimeFigureOut">
              <a:rPr lang="es-ES" smtClean="0"/>
              <a:t>26/09/2019</a:t>
            </a:fld>
            <a:endParaRPr lang="es-ES"/>
          </a:p>
        </p:txBody>
      </p:sp>
      <p:sp>
        <p:nvSpPr>
          <p:cNvPr id="13" name="12 Marcador de número de diapositiva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42B7EFF8-6270-4C35-A372-91743A98FC56}" type="slidenum">
              <a:rPr lang="es-ES" smtClean="0"/>
              <a:t>‹Nº›</a:t>
            </a:fld>
            <a:endParaRPr lang="es-ES"/>
          </a:p>
        </p:txBody>
      </p:sp>
      <p:sp>
        <p:nvSpPr>
          <p:cNvPr id="14" name="13 Marcador de pie de página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37FFC-9AFF-4017-A5A7-6AA9700987DF}" type="datetimeFigureOut">
              <a:rPr lang="es-ES" smtClean="0"/>
              <a:t>26/09/2019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7EFF8-6270-4C35-A372-91743A98FC56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B7D37FFC-9AFF-4017-A5A7-6AA9700987DF}" type="datetimeFigureOut">
              <a:rPr lang="es-ES" smtClean="0"/>
              <a:t>26/09/2019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6 Rectángulo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Rectángulo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42B7EFF8-6270-4C35-A372-91743A98FC56}" type="slidenum">
              <a:rPr lang="es-ES" smtClean="0"/>
              <a:t>‹Nº›</a:t>
            </a:fld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7D37FFC-9AFF-4017-A5A7-6AA9700987DF}" type="datetimeFigureOut">
              <a:rPr lang="es-ES" smtClean="0"/>
              <a:t>26/09/2019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s-ES"/>
          </a:p>
        </p:txBody>
      </p:sp>
      <p:sp>
        <p:nvSpPr>
          <p:cNvPr id="7" name="6 Rectángulo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Rectángulo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42B7EFF8-6270-4C35-A372-91743A98FC56}" type="slidenum">
              <a:rPr lang="es-ES" smtClean="0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347864" y="2000240"/>
            <a:ext cx="5581854" cy="3429024"/>
          </a:xfrm>
        </p:spPr>
        <p:txBody>
          <a:bodyPr>
            <a:normAutofit fontScale="90000"/>
          </a:bodyPr>
          <a:lstStyle/>
          <a:p>
            <a:r>
              <a:rPr lang="es-419" sz="4800" dirty="0" smtClean="0"/>
              <a:t>Integrantes:</a:t>
            </a:r>
            <a:r>
              <a:rPr lang="es-419" dirty="0" smtClean="0"/>
              <a:t/>
            </a:r>
            <a:br>
              <a:rPr lang="es-419" dirty="0" smtClean="0"/>
            </a:br>
            <a:r>
              <a:rPr lang="es-419" dirty="0" smtClean="0"/>
              <a:t/>
            </a:r>
            <a:br>
              <a:rPr lang="es-419" dirty="0" smtClean="0"/>
            </a:br>
            <a:r>
              <a:rPr lang="es-419" sz="3200" dirty="0" smtClean="0"/>
              <a:t>Estrada Carreon Jorge Armando</a:t>
            </a:r>
            <a:br>
              <a:rPr lang="es-419" sz="3200" dirty="0" smtClean="0"/>
            </a:br>
            <a:r>
              <a:rPr lang="es-419" sz="3200" dirty="0" smtClean="0"/>
              <a:t>Granados </a:t>
            </a:r>
            <a:r>
              <a:rPr lang="es-419" sz="3200" smtClean="0"/>
              <a:t>Caudillo Pablo</a:t>
            </a:r>
            <a:br>
              <a:rPr lang="es-419" sz="3200" smtClean="0"/>
            </a:br>
            <a:r>
              <a:rPr lang="es-419" sz="3200" smtClean="0"/>
              <a:t>Medina Pérez César Arturo</a:t>
            </a:r>
            <a:br>
              <a:rPr lang="es-419" sz="3200" smtClean="0"/>
            </a:br>
            <a:r>
              <a:rPr lang="es-419" sz="3200" smtClean="0"/>
              <a:t>Gómez Pérez Héctor Eduardo</a:t>
            </a:r>
            <a:r>
              <a:rPr lang="es-419" sz="3200" dirty="0" smtClean="0"/>
              <a:t/>
            </a:r>
            <a:br>
              <a:rPr lang="es-419" sz="3200" dirty="0" smtClean="0"/>
            </a:br>
            <a:endParaRPr lang="es-ES" dirty="0"/>
          </a:p>
        </p:txBody>
      </p:sp>
      <p:pic>
        <p:nvPicPr>
          <p:cNvPr id="5" name="4 Marcador de contenido" descr="JSP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395536" y="2420888"/>
            <a:ext cx="2814582" cy="281458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419" dirty="0" smtClean="0"/>
              <a:t/>
            </a:r>
            <a:br>
              <a:rPr lang="es-419" dirty="0" smtClean="0"/>
            </a:br>
            <a:r>
              <a:rPr lang="es-419" dirty="0" smtClean="0">
                <a:latin typeface="Arial" pitchFamily="34" charset="0"/>
                <a:cs typeface="Arial" pitchFamily="34" charset="0"/>
              </a:rPr>
              <a:t>JavaServer Pages </a:t>
            </a:r>
            <a:br>
              <a:rPr lang="es-419" dirty="0" smtClean="0">
                <a:latin typeface="Arial" pitchFamily="34" charset="0"/>
                <a:cs typeface="Arial" pitchFamily="34" charset="0"/>
              </a:rPr>
            </a:br>
            <a:r>
              <a:rPr lang="es-419" dirty="0" smtClean="0"/>
              <a:t> (JSP)</a:t>
            </a:r>
            <a:endParaRPr lang="es-ES" dirty="0"/>
          </a:p>
        </p:txBody>
      </p:sp>
      <p:sp>
        <p:nvSpPr>
          <p:cNvPr id="5" name="4 Rectángulo"/>
          <p:cNvSpPr/>
          <p:nvPr/>
        </p:nvSpPr>
        <p:spPr>
          <a:xfrm>
            <a:off x="1857356" y="2214554"/>
            <a:ext cx="5786478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indent="-400050" algn="just">
              <a:buFont typeface="Arial" pitchFamily="34" charset="0"/>
              <a:buChar char="•"/>
            </a:pPr>
            <a:r>
              <a:rPr lang="es-419" sz="1400" dirty="0" smtClean="0">
                <a:latin typeface="Arial" pitchFamily="34" charset="0"/>
                <a:cs typeface="Arial" pitchFamily="34" charset="0"/>
              </a:rPr>
              <a:t>Es una </a:t>
            </a:r>
            <a:r>
              <a:rPr lang="es-419" sz="1400" dirty="0">
                <a:latin typeface="Arial" pitchFamily="34" charset="0"/>
                <a:cs typeface="Arial" pitchFamily="34" charset="0"/>
              </a:rPr>
              <a:t>tecnología que ayuda a los desarrolladores de </a:t>
            </a:r>
            <a:r>
              <a:rPr lang="es-419" sz="1400" dirty="0" smtClean="0">
                <a:latin typeface="Arial" pitchFamily="34" charset="0"/>
                <a:cs typeface="Arial" pitchFamily="34" charset="0"/>
              </a:rPr>
              <a:t>software a </a:t>
            </a:r>
            <a:r>
              <a:rPr lang="es-419" sz="1400" dirty="0">
                <a:latin typeface="Arial" pitchFamily="34" charset="0"/>
                <a:cs typeface="Arial" pitchFamily="34" charset="0"/>
              </a:rPr>
              <a:t>crear páginas web dinámicas basadas en HTML y XML, entre otros tipos de documentos. JSP es similar a PHP, pero usa el lenguaje </a:t>
            </a:r>
            <a:r>
              <a:rPr lang="es-419" sz="1400" dirty="0" smtClean="0">
                <a:latin typeface="Arial" pitchFamily="34" charset="0"/>
                <a:cs typeface="Arial" pitchFamily="34" charset="0"/>
              </a:rPr>
              <a:t>de </a:t>
            </a:r>
            <a:r>
              <a:rPr lang="es-419" sz="1400" dirty="0">
                <a:latin typeface="Arial" pitchFamily="34" charset="0"/>
                <a:cs typeface="Arial" pitchFamily="34" charset="0"/>
              </a:rPr>
              <a:t>programación Java</a:t>
            </a:r>
            <a:r>
              <a:rPr lang="es-419" sz="1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s-419" sz="1400" dirty="0">
              <a:latin typeface="Arial" pitchFamily="34" charset="0"/>
              <a:cs typeface="Arial" pitchFamily="34" charset="0"/>
            </a:endParaRPr>
          </a:p>
          <a:p>
            <a:pPr marL="400050" indent="-400050">
              <a:buFont typeface="Arial" pitchFamily="34" charset="0"/>
              <a:buChar char="•"/>
            </a:pPr>
            <a:r>
              <a:rPr lang="es-ES" sz="1400" dirty="0">
                <a:latin typeface="Arial" pitchFamily="34" charset="0"/>
                <a:cs typeface="Arial" pitchFamily="34" charset="0"/>
              </a:rPr>
              <a:t>JSP proporciona automáticamente una serie de variables adecuadamente declaradas e inicializadas, utilizables por el programador</a:t>
            </a:r>
            <a:r>
              <a:rPr lang="es-ES" sz="1400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endParaRPr lang="es-ES" sz="1400" b="1" dirty="0">
              <a:latin typeface="Arial" pitchFamily="34" charset="0"/>
              <a:cs typeface="Arial" pitchFamily="34" charset="0"/>
            </a:endParaRPr>
          </a:p>
          <a:p>
            <a:r>
              <a:rPr lang="es-ES" sz="1400" dirty="0" err="1" smtClean="0"/>
              <a:t>javax.servlet.ServletContext</a:t>
            </a:r>
            <a:r>
              <a:rPr lang="es-ES" sz="1400" dirty="0" smtClean="0"/>
              <a:t> </a:t>
            </a:r>
            <a:r>
              <a:rPr lang="es-ES" sz="1400" dirty="0" err="1" smtClean="0"/>
              <a:t>application</a:t>
            </a:r>
            <a:r>
              <a:rPr lang="es-ES" sz="1400" dirty="0" smtClean="0"/>
              <a:t> </a:t>
            </a:r>
            <a:r>
              <a:rPr lang="es-ES" sz="1400" dirty="0" err="1" smtClean="0"/>
              <a:t>javax.servlet.ServletConfig</a:t>
            </a:r>
            <a:r>
              <a:rPr lang="es-ES" sz="1400" dirty="0" smtClean="0"/>
              <a:t> </a:t>
            </a:r>
            <a:r>
              <a:rPr lang="es-ES" sz="1400" dirty="0" err="1" smtClean="0"/>
              <a:t>config</a:t>
            </a:r>
            <a:r>
              <a:rPr lang="es-ES" sz="1400" dirty="0" smtClean="0"/>
              <a:t> </a:t>
            </a:r>
            <a:r>
              <a:rPr lang="es-ES" sz="1400" dirty="0" err="1" smtClean="0"/>
              <a:t>javax.servlet.jsp.JspWriter</a:t>
            </a:r>
            <a:r>
              <a:rPr lang="es-ES" sz="1400" dirty="0" smtClean="0"/>
              <a:t> </a:t>
            </a:r>
            <a:r>
              <a:rPr lang="es-ES" sz="1400" dirty="0" err="1" smtClean="0"/>
              <a:t>out</a:t>
            </a:r>
            <a:r>
              <a:rPr lang="es-ES" sz="1400" dirty="0" smtClean="0"/>
              <a:t> </a:t>
            </a:r>
            <a:r>
              <a:rPr lang="es-ES" sz="1400" dirty="0" err="1" smtClean="0"/>
              <a:t>javax.servlet.jsp.PageContext</a:t>
            </a:r>
            <a:r>
              <a:rPr lang="es-ES" sz="1400" dirty="0" smtClean="0"/>
              <a:t> </a:t>
            </a:r>
            <a:r>
              <a:rPr lang="es-ES" sz="1400" dirty="0" err="1" smtClean="0"/>
              <a:t>pageContext</a:t>
            </a:r>
            <a:r>
              <a:rPr lang="es-ES" sz="1400" dirty="0" smtClean="0"/>
              <a:t> </a:t>
            </a:r>
            <a:r>
              <a:rPr lang="es-ES" sz="1400" dirty="0" err="1" smtClean="0"/>
              <a:t>javax.servlet.http.HttpServletRequest</a:t>
            </a:r>
            <a:r>
              <a:rPr lang="es-ES" sz="1400" dirty="0" smtClean="0"/>
              <a:t> </a:t>
            </a:r>
            <a:r>
              <a:rPr lang="es-ES" sz="1400" dirty="0" err="1" smtClean="0"/>
              <a:t>request</a:t>
            </a:r>
            <a:r>
              <a:rPr lang="es-ES" sz="1400" dirty="0" smtClean="0"/>
              <a:t> </a:t>
            </a:r>
            <a:r>
              <a:rPr lang="es-ES" sz="1400" dirty="0" err="1" smtClean="0"/>
              <a:t>javax.servlet.http.HttpServletResponse</a:t>
            </a:r>
            <a:r>
              <a:rPr lang="es-ES" sz="1400" dirty="0" smtClean="0"/>
              <a:t> response </a:t>
            </a:r>
            <a:r>
              <a:rPr lang="es-ES" sz="1400" dirty="0" err="1" smtClean="0"/>
              <a:t>javax.servlet.http.HttpSession</a:t>
            </a:r>
            <a:r>
              <a:rPr lang="es-ES" sz="1400" dirty="0" smtClean="0"/>
              <a:t> </a:t>
            </a:r>
            <a:r>
              <a:rPr lang="es-ES" sz="1400" dirty="0" err="1" smtClean="0"/>
              <a:t>session</a:t>
            </a:r>
            <a:endParaRPr lang="es-E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1 Título"/>
          <p:cNvSpPr txBox="1">
            <a:spLocks/>
          </p:cNvSpPr>
          <p:nvPr/>
        </p:nvSpPr>
        <p:spPr>
          <a:xfrm>
            <a:off x="5286380" y="4714884"/>
            <a:ext cx="2286016" cy="35719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25000" lnSpcReduction="20000"/>
          </a:bodyPr>
          <a:lstStyle/>
          <a:p>
            <a:pPr lvl="0" algn="ctr">
              <a:spcBef>
                <a:spcPct val="0"/>
              </a:spcBef>
            </a:pPr>
            <a:r>
              <a:rPr lang="es-419" sz="4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Request </a:t>
            </a:r>
            <a:r>
              <a:rPr lang="es-419" sz="4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(A utilizar)</a:t>
            </a:r>
            <a:r>
              <a:rPr kumimoji="0" lang="es-419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s-419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lang="es-419" sz="4800" b="1" dirty="0" smtClean="0">
                <a:solidFill>
                  <a:srgbClr val="FF0000"/>
                </a:solidFill>
                <a:latin typeface="Arial" pitchFamily="34" charset="0"/>
                <a:ea typeface="+mj-ea"/>
                <a:cs typeface="Arial" pitchFamily="34" charset="0"/>
              </a:rPr>
              <a:t>Cliente/servidor</a:t>
            </a:r>
            <a:endParaRPr kumimoji="0" lang="es-ES" sz="44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</a:t>
            </a:r>
            <a:r>
              <a:rPr lang="es-419" dirty="0" smtClean="0"/>
              <a:t>onexión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ES" dirty="0"/>
              <a:t>&lt;%@ page </a:t>
            </a:r>
            <a:r>
              <a:rPr lang="es-ES" dirty="0" err="1"/>
              <a:t>language</a:t>
            </a:r>
            <a:r>
              <a:rPr lang="es-ES" dirty="0"/>
              <a:t>="java" %&gt; </a:t>
            </a:r>
            <a:br>
              <a:rPr lang="es-ES" dirty="0"/>
            </a:br>
            <a:r>
              <a:rPr lang="es-ES" dirty="0"/>
              <a:t>&lt;%@ page </a:t>
            </a:r>
            <a:r>
              <a:rPr lang="es-ES" dirty="0" err="1"/>
              <a:t>import</a:t>
            </a:r>
            <a:r>
              <a:rPr lang="es-ES" dirty="0"/>
              <a:t> = "</a:t>
            </a:r>
            <a:r>
              <a:rPr lang="es-ES" dirty="0" err="1"/>
              <a:t>notas.ConnectionCreator</a:t>
            </a:r>
            <a:r>
              <a:rPr lang="es-ES" dirty="0"/>
              <a:t>"%&gt; </a:t>
            </a:r>
            <a:br>
              <a:rPr lang="es-ES" dirty="0"/>
            </a:br>
            <a:r>
              <a:rPr lang="es-ES" dirty="0"/>
              <a:t>&lt;%@ page </a:t>
            </a:r>
            <a:r>
              <a:rPr lang="es-ES" dirty="0" err="1"/>
              <a:t>import</a:t>
            </a:r>
            <a:r>
              <a:rPr lang="es-ES" dirty="0"/>
              <a:t> = "</a:t>
            </a:r>
            <a:r>
              <a:rPr lang="es-ES" dirty="0" err="1"/>
              <a:t>java.sql.Connection</a:t>
            </a:r>
            <a:r>
              <a:rPr lang="es-ES" dirty="0"/>
              <a:t>"%&gt; </a:t>
            </a:r>
            <a:br>
              <a:rPr lang="es-ES" dirty="0"/>
            </a:br>
            <a:r>
              <a:rPr lang="es-ES" dirty="0"/>
              <a:t>&lt;% </a:t>
            </a:r>
            <a:br>
              <a:rPr lang="es-ES" dirty="0"/>
            </a:br>
            <a:r>
              <a:rPr lang="es-ES" dirty="0"/>
              <a:t>    </a:t>
            </a:r>
            <a:r>
              <a:rPr lang="es-ES" dirty="0" err="1"/>
              <a:t>Connection</a:t>
            </a:r>
            <a:r>
              <a:rPr lang="es-ES" dirty="0"/>
              <a:t> </a:t>
            </a:r>
            <a:r>
              <a:rPr lang="es-ES" dirty="0" err="1"/>
              <a:t>miConexion</a:t>
            </a:r>
            <a:r>
              <a:rPr lang="es-ES" dirty="0"/>
              <a:t> = </a:t>
            </a:r>
            <a:r>
              <a:rPr lang="es-ES" dirty="0" err="1"/>
              <a:t>ConnectionCreator.getSqlServerConnection</a:t>
            </a:r>
            <a:r>
              <a:rPr lang="es-ES" dirty="0"/>
              <a:t>("</a:t>
            </a:r>
            <a:r>
              <a:rPr lang="es-ES" dirty="0" err="1"/>
              <a:t>Orders</a:t>
            </a:r>
            <a:r>
              <a:rPr lang="es-ES" dirty="0"/>
              <a:t>", "127.0.0.1",1433,"sa", ""); </a:t>
            </a:r>
            <a:br>
              <a:rPr lang="es-ES" dirty="0"/>
            </a:br>
            <a:r>
              <a:rPr lang="es-ES" dirty="0"/>
              <a:t/>
            </a:r>
            <a:br>
              <a:rPr lang="es-ES" dirty="0"/>
            </a:br>
            <a:r>
              <a:rPr lang="es-ES" dirty="0"/>
              <a:t>    </a:t>
            </a:r>
            <a:r>
              <a:rPr lang="es-ES" dirty="0" err="1"/>
              <a:t>if</a:t>
            </a:r>
            <a:r>
              <a:rPr lang="es-ES" dirty="0"/>
              <a:t> (!</a:t>
            </a:r>
            <a:r>
              <a:rPr lang="es-ES" dirty="0" err="1"/>
              <a:t>miConexion.isClosed</a:t>
            </a:r>
            <a:r>
              <a:rPr lang="es-ES" dirty="0"/>
              <a:t>()) </a:t>
            </a:r>
            <a:br>
              <a:rPr lang="es-ES" dirty="0"/>
            </a:br>
            <a:r>
              <a:rPr lang="es-ES" dirty="0"/>
              <a:t>      </a:t>
            </a:r>
            <a:r>
              <a:rPr lang="es-ES" dirty="0" err="1"/>
              <a:t>out.print</a:t>
            </a:r>
            <a:r>
              <a:rPr lang="es-ES" dirty="0"/>
              <a:t>("FUNCIONA !"); </a:t>
            </a:r>
            <a:br>
              <a:rPr lang="es-ES" dirty="0"/>
            </a:br>
            <a:r>
              <a:rPr lang="es-ES" dirty="0"/>
              <a:t/>
            </a:r>
            <a:br>
              <a:rPr lang="es-ES" dirty="0"/>
            </a:br>
            <a:r>
              <a:rPr lang="es-ES" dirty="0"/>
              <a:t>   /* CUERPO DE LA PAGINA */ </a:t>
            </a:r>
            <a:br>
              <a:rPr lang="es-ES" dirty="0"/>
            </a:br>
            <a:r>
              <a:rPr lang="es-ES" dirty="0"/>
              <a:t/>
            </a:r>
            <a:br>
              <a:rPr lang="es-ES" dirty="0"/>
            </a:br>
            <a:r>
              <a:rPr lang="es-ES" dirty="0"/>
              <a:t>   </a:t>
            </a:r>
            <a:r>
              <a:rPr lang="es-ES" dirty="0" err="1"/>
              <a:t>miConexion.close</a:t>
            </a:r>
            <a:r>
              <a:rPr lang="es-ES" dirty="0"/>
              <a:t>(); /* no olvidarse de cerrar las conexiones. */ </a:t>
            </a:r>
            <a:br>
              <a:rPr lang="es-ES" dirty="0"/>
            </a:br>
            <a:r>
              <a:rPr lang="es-ES" dirty="0"/>
              <a:t/>
            </a:r>
            <a:br>
              <a:rPr lang="es-ES" dirty="0"/>
            </a:br>
            <a:r>
              <a:rPr lang="es-ES" dirty="0"/>
              <a:t>%&gt;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/>
          <p:cNvSpPr txBox="1">
            <a:spLocks/>
          </p:cNvSpPr>
          <p:nvPr/>
        </p:nvSpPr>
        <p:spPr>
          <a:xfrm>
            <a:off x="714348" y="2071678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400" b="1" dirty="0" smtClean="0">
                <a:latin typeface="Arial" pitchFamily="34" charset="0"/>
                <a:ea typeface="+mj-ea"/>
                <a:cs typeface="Arial" pitchFamily="34" charset="0"/>
              </a:rPr>
              <a:t>R</a:t>
            </a:r>
            <a:r>
              <a:rPr lang="es-419" sz="2400" b="1" dirty="0" smtClean="0">
                <a:latin typeface="Arial" pitchFamily="34" charset="0"/>
                <a:ea typeface="+mj-ea"/>
                <a:cs typeface="Arial" pitchFamily="34" charset="0"/>
              </a:rPr>
              <a:t>equest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Es</a:t>
            </a:r>
            <a:r>
              <a:rPr kumimoji="0" lang="es-419" sz="18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 un objeto de la clase HttpServletRequest, emcargadp de encapsular los datos enviados por el cliente al servidor</a:t>
            </a:r>
            <a:r>
              <a:rPr kumimoji="0" lang="es-419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/>
            </a:r>
            <a:br>
              <a:rPr kumimoji="0" lang="es-419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r>
              <a:rPr kumimoji="0" lang="es-419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s-419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es-E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1 Título"/>
          <p:cNvSpPr txBox="1">
            <a:spLocks/>
          </p:cNvSpPr>
          <p:nvPr/>
        </p:nvSpPr>
        <p:spPr>
          <a:xfrm>
            <a:off x="795310" y="652442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executeUpdate</a:t>
            </a:r>
            <a:br>
              <a:rPr kumimoji="0" lang="es-419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r>
              <a:rPr kumimoji="0" lang="es-419" sz="12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Para insertar </a:t>
            </a:r>
            <a:r>
              <a:rPr lang="es-419" sz="1400" dirty="0" smtClean="0">
                <a:latin typeface="Arial" pitchFamily="34" charset="0"/>
                <a:ea typeface="+mj-ea"/>
                <a:cs typeface="Arial" pitchFamily="34" charset="0"/>
              </a:rPr>
              <a:t>r</a:t>
            </a:r>
            <a:r>
              <a:rPr kumimoji="0" lang="es-419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egistros,actualizar,eliminar,utilizaremos el metodo executeUpdate, el cual proviene de la clase Statement</a:t>
            </a:r>
            <a:r>
              <a:rPr kumimoji="0" lang="es-419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s-419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es-E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1 Título"/>
          <p:cNvSpPr txBox="1">
            <a:spLocks/>
          </p:cNvSpPr>
          <p:nvPr/>
        </p:nvSpPr>
        <p:spPr>
          <a:xfrm>
            <a:off x="714348" y="3571876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b="1" dirty="0" smtClean="0">
                <a:latin typeface="Arial" pitchFamily="34" charset="0"/>
                <a:ea typeface="+mj-ea"/>
                <a:cs typeface="Arial" pitchFamily="34" charset="0"/>
              </a:rPr>
              <a:t>getParameter</a:t>
            </a:r>
            <a:r>
              <a:rPr kumimoji="0" lang="es-419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s-419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s-419" sz="14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Almacena</a:t>
            </a:r>
            <a:r>
              <a:rPr kumimoji="0" lang="es-419" sz="14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 la cadena de caracteres asignada al tributo name de la etiqueta param del parametro que se quiere escoger</a:t>
            </a:r>
            <a:r>
              <a:rPr kumimoji="0" lang="es-419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s-419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es-E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419" dirty="0" smtClean="0"/>
              <a:t>Sintaxis para Altas. JSP y Conexi</a:t>
            </a:r>
            <a:r>
              <a:rPr lang="es-ES" dirty="0" smtClean="0"/>
              <a:t>ó</a:t>
            </a:r>
            <a:r>
              <a:rPr lang="es-419" dirty="0" smtClean="0"/>
              <a:t>n  BD</a:t>
            </a:r>
            <a:endParaRPr lang="es-ES" dirty="0"/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 l="27972" t="35911" r="26444" b="22759"/>
          <a:stretch>
            <a:fillRect/>
          </a:stretch>
        </p:blipFill>
        <p:spPr bwMode="auto">
          <a:xfrm>
            <a:off x="785786" y="1857363"/>
            <a:ext cx="7143800" cy="36433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1 Título"/>
          <p:cNvSpPr txBox="1">
            <a:spLocks/>
          </p:cNvSpPr>
          <p:nvPr/>
        </p:nvSpPr>
        <p:spPr>
          <a:xfrm>
            <a:off x="714348" y="164305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s-419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es-E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1 Título"/>
          <p:cNvSpPr txBox="1">
            <a:spLocks/>
          </p:cNvSpPr>
          <p:nvPr/>
        </p:nvSpPr>
        <p:spPr>
          <a:xfrm>
            <a:off x="5214910" y="1857364"/>
            <a:ext cx="3714808" cy="42862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2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/>
            </a:r>
            <a:br>
              <a:rPr kumimoji="0" lang="es-419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r>
              <a:rPr kumimoji="0" lang="es-419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s-419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s-419" sz="4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Almacena</a:t>
            </a:r>
            <a:r>
              <a:rPr kumimoji="0" lang="es-419" sz="4800" b="1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 la cadena de caracteres asignados de la BD</a:t>
            </a:r>
            <a:endParaRPr kumimoji="0" lang="es-ES" sz="44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9" name="1 Título"/>
          <p:cNvSpPr txBox="1">
            <a:spLocks/>
          </p:cNvSpPr>
          <p:nvPr/>
        </p:nvSpPr>
        <p:spPr>
          <a:xfrm>
            <a:off x="5429256" y="3071810"/>
            <a:ext cx="3571900" cy="35719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2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/>
            </a:r>
            <a:br>
              <a:rPr kumimoji="0" lang="es-419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r>
              <a:rPr kumimoji="0" lang="es-419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s-419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lang="es-419" sz="4800" b="1" dirty="0" smtClean="0">
                <a:solidFill>
                  <a:srgbClr val="FF0000"/>
                </a:solidFill>
                <a:latin typeface="Arial" pitchFamily="34" charset="0"/>
                <a:ea typeface="+mj-ea"/>
                <a:cs typeface="Arial" pitchFamily="34" charset="0"/>
              </a:rPr>
              <a:t>Se establece la conexi</a:t>
            </a:r>
            <a:r>
              <a:rPr lang="es-ES" sz="4800" b="1" dirty="0" smtClean="0">
                <a:solidFill>
                  <a:srgbClr val="FF0000"/>
                </a:solidFill>
                <a:latin typeface="Arial" pitchFamily="34" charset="0"/>
                <a:ea typeface="+mj-ea"/>
                <a:cs typeface="Arial" pitchFamily="34" charset="0"/>
              </a:rPr>
              <a:t>ó</a:t>
            </a:r>
            <a:r>
              <a:rPr lang="es-419" sz="4800" b="1" dirty="0" smtClean="0">
                <a:solidFill>
                  <a:srgbClr val="FF0000"/>
                </a:solidFill>
                <a:latin typeface="Arial" pitchFamily="34" charset="0"/>
                <a:ea typeface="+mj-ea"/>
                <a:cs typeface="Arial" pitchFamily="34" charset="0"/>
              </a:rPr>
              <a:t>n con la BD</a:t>
            </a:r>
            <a:endParaRPr kumimoji="0" lang="es-ES" sz="44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10" name="1 Título"/>
          <p:cNvSpPr txBox="1">
            <a:spLocks/>
          </p:cNvSpPr>
          <p:nvPr/>
        </p:nvSpPr>
        <p:spPr>
          <a:xfrm>
            <a:off x="5214910" y="4071942"/>
            <a:ext cx="3929090" cy="50006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2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/>
            </a:r>
            <a:br>
              <a:rPr kumimoji="0" lang="es-419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r>
              <a:rPr kumimoji="0" lang="es-419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s-419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lang="es-419" sz="4800" b="1" dirty="0">
                <a:solidFill>
                  <a:srgbClr val="FF0000"/>
                </a:solidFill>
                <a:latin typeface="Arial" pitchFamily="34" charset="0"/>
                <a:ea typeface="+mj-ea"/>
                <a:cs typeface="Arial" pitchFamily="34" charset="0"/>
              </a:rPr>
              <a:t>H</a:t>
            </a:r>
            <a:r>
              <a:rPr kumimoji="0" lang="es-419" sz="4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ace</a:t>
            </a:r>
            <a:r>
              <a:rPr kumimoji="0" lang="es-419" sz="4800" b="1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 </a:t>
            </a:r>
            <a:r>
              <a:rPr kumimoji="0" lang="es-419" sz="4800" b="1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referencia  a una iteracion con la BD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sz="4800" b="1" baseline="0" dirty="0" smtClean="0">
                <a:solidFill>
                  <a:srgbClr val="FF0000"/>
                </a:solidFill>
                <a:latin typeface="Arial" pitchFamily="34" charset="0"/>
                <a:ea typeface="+mj-ea"/>
                <a:cs typeface="Arial" pitchFamily="34" charset="0"/>
              </a:rPr>
              <a:t>(querystring)</a:t>
            </a:r>
            <a:endParaRPr kumimoji="0" lang="es-ES" sz="44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11" name="1 Título"/>
          <p:cNvSpPr txBox="1">
            <a:spLocks/>
          </p:cNvSpPr>
          <p:nvPr/>
        </p:nvSpPr>
        <p:spPr>
          <a:xfrm>
            <a:off x="4572000" y="5429264"/>
            <a:ext cx="3929090" cy="57150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2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/>
            </a:r>
            <a:br>
              <a:rPr kumimoji="0" lang="es-419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r>
              <a:rPr kumimoji="0" lang="es-419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s-419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s-419" sz="4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NOTA: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800" b="1" dirty="0" smtClean="0">
                <a:solidFill>
                  <a:srgbClr val="FF0000"/>
                </a:solidFill>
                <a:latin typeface="Arial" pitchFamily="34" charset="0"/>
                <a:ea typeface="+mj-ea"/>
                <a:cs typeface="Arial" pitchFamily="34" charset="0"/>
              </a:rPr>
              <a:t>L</a:t>
            </a:r>
            <a:r>
              <a:rPr lang="es-419" sz="4800" b="1" dirty="0" smtClean="0">
                <a:solidFill>
                  <a:srgbClr val="FF0000"/>
                </a:solidFill>
                <a:latin typeface="Arial" pitchFamily="34" charset="0"/>
                <a:ea typeface="+mj-ea"/>
                <a:cs typeface="Arial" pitchFamily="34" charset="0"/>
              </a:rPr>
              <a:t>os datos tienes que estar ordenados de acuerdo a la tabla creada en la BD</a:t>
            </a:r>
            <a:endParaRPr kumimoji="0" lang="es-ES" sz="44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/>
          <a:srcRect l="29579" t="34093" r="49704" b="64328"/>
          <a:stretch>
            <a:fillRect/>
          </a:stretch>
        </p:blipFill>
        <p:spPr bwMode="auto">
          <a:xfrm>
            <a:off x="2143108" y="1285860"/>
            <a:ext cx="5000692" cy="214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419" dirty="0" smtClean="0"/>
              <a:t>Sintaxis para Actualizar Registro. JSP y Conexi</a:t>
            </a:r>
            <a:r>
              <a:rPr lang="es-ES" dirty="0" smtClean="0"/>
              <a:t>ó</a:t>
            </a:r>
            <a:r>
              <a:rPr lang="es-419" dirty="0" smtClean="0"/>
              <a:t>n  BD</a:t>
            </a:r>
            <a:endParaRPr lang="es-E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 l="32243" t="32515" r="26916" b="45387"/>
          <a:stretch>
            <a:fillRect/>
          </a:stretch>
        </p:blipFill>
        <p:spPr bwMode="auto">
          <a:xfrm>
            <a:off x="1285852" y="1785926"/>
            <a:ext cx="7276471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1 Título"/>
          <p:cNvSpPr txBox="1">
            <a:spLocks/>
          </p:cNvSpPr>
          <p:nvPr/>
        </p:nvSpPr>
        <p:spPr>
          <a:xfrm>
            <a:off x="4572000" y="5000636"/>
            <a:ext cx="3929090" cy="64294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2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/>
            </a:r>
            <a:br>
              <a:rPr kumimoji="0" lang="es-419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r>
              <a:rPr kumimoji="0" lang="es-419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s-419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s-419" sz="4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NOTA: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4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Se</a:t>
            </a:r>
            <a:r>
              <a:rPr kumimoji="0" lang="es-419" sz="4800" b="1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 debe utilizar la PK para hacer referencia sobre cual tabla modificara</a:t>
            </a:r>
            <a:endParaRPr kumimoji="0" lang="es-ES" sz="44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419" dirty="0" smtClean="0"/>
              <a:t>Sintaxis para Eliminar Registros. JSP y Conexi</a:t>
            </a:r>
            <a:r>
              <a:rPr lang="es-ES" dirty="0" smtClean="0"/>
              <a:t>ó</a:t>
            </a:r>
            <a:r>
              <a:rPr lang="es-419" dirty="0" smtClean="0"/>
              <a:t>n  BD</a:t>
            </a:r>
            <a:endParaRPr lang="es-E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 l="27079" t="47034" r="30018" b="27542"/>
          <a:stretch>
            <a:fillRect/>
          </a:stretch>
        </p:blipFill>
        <p:spPr bwMode="auto">
          <a:xfrm>
            <a:off x="1000100" y="2071678"/>
            <a:ext cx="6429421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rmedio">
  <a:themeElements>
    <a:clrScheme name="Intermedi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Intermedi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Intermedi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152</TotalTime>
  <Words>80</Words>
  <Application>Microsoft Office PowerPoint</Application>
  <PresentationFormat>Presentación en pantalla (4:3)</PresentationFormat>
  <Paragraphs>26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Tw Cen MT</vt:lpstr>
      <vt:lpstr>Wingdings</vt:lpstr>
      <vt:lpstr>Wingdings 2</vt:lpstr>
      <vt:lpstr>Intermedio</vt:lpstr>
      <vt:lpstr>Integrantes:  Estrada Carreon Jorge Armando Granados Caudillo Pablo Medina Pérez César Arturo Gómez Pérez Héctor Eduardo </vt:lpstr>
      <vt:lpstr> JavaServer Pages   (JSP)</vt:lpstr>
      <vt:lpstr>Conexión</vt:lpstr>
      <vt:lpstr>Presentación de PowerPoint</vt:lpstr>
      <vt:lpstr>Sintaxis para Altas. JSP y Conexión  BD</vt:lpstr>
      <vt:lpstr>Sintaxis para Actualizar Registro. JSP y Conexión  BD</vt:lpstr>
      <vt:lpstr>Sintaxis para Eliminar Registros. JSP y Conexión  BD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ALTAS CON JSP y CONEXIÓN A UNA BASE DE DATOS</dc:title>
  <dc:creator>Pablo Granados Caudillo</dc:creator>
  <cp:lastModifiedBy>Jorge</cp:lastModifiedBy>
  <cp:revision>17</cp:revision>
  <dcterms:created xsi:type="dcterms:W3CDTF">2019-09-25T20:50:20Z</dcterms:created>
  <dcterms:modified xsi:type="dcterms:W3CDTF">2019-09-26T13:10:02Z</dcterms:modified>
</cp:coreProperties>
</file>